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9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2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Outfit ExtraBold" pitchFamily="34" charset="0"/>
      <p:bold r:id="rId17"/>
    </p:embeddedFont>
    <p:embeddedFont>
      <p:font typeface="Outfit ExtraBold" pitchFamily="34" charset="-122"/>
      <p:bold r:id="rId18"/>
    </p:embeddedFont>
    <p:embeddedFont>
      <p:font typeface="Outfit ExtraBold" pitchFamily="34" charset="-120"/>
      <p:bold r:id="rId19"/>
    </p:embeddedFont>
    <p:embeddedFont>
      <p:font typeface="Microsoft YaHei" panose="020B0503020204020204" charset="-122"/>
      <p:regular r:id="rId20"/>
      <p:bold r:id="rId21"/>
    </p:embeddedFont>
    <p:embeddedFont>
      <p:font typeface="Arimo" panose="020B0604020202020204" pitchFamily="34" charset="0"/>
      <p:regular r:id="rId22"/>
    </p:embeddedFont>
    <p:embeddedFont>
      <p:font typeface="Arimo" panose="020B0604020202020204" pitchFamily="34" charset="-122"/>
      <p:regular r:id="rId23"/>
    </p:embeddedFont>
    <p:embeddedFont>
      <p:font typeface="Arimo" panose="020B0604020202020204" pitchFamily="34" charset="-120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9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Customer Shopping Behavior Analysis</a:t>
            </a:r>
            <a:endParaRPr lang="en-US" sz="4000" dirty="0">
              <a:solidFill>
                <a:srgbClr val="231971"/>
              </a:solidFill>
              <a:latin typeface="Outfit ExtraBold" pitchFamily="34" charset="0"/>
              <a:ea typeface="Outfit ExtraBold" pitchFamily="34" charset="-122"/>
              <a:cs typeface="Outfit Extra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5935" y="3259455"/>
            <a:ext cx="3560445" cy="7600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5" name="Text Box 4"/>
          <p:cNvSpPr txBox="1"/>
          <p:nvPr/>
        </p:nvSpPr>
        <p:spPr>
          <a:xfrm>
            <a:off x="495935" y="3177540"/>
            <a:ext cx="3629025" cy="505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en-US" sz="1200">
                <a:solidFill>
                  <a:schemeClr val="accent1">
                    <a:lumMod val="50000"/>
                  </a:schemeClr>
                </a:solidFill>
                <a:latin typeface="+mn-ea"/>
                <a:ea typeface="Microsoft YaHei" panose="020B0503020204020204" charset="-122"/>
                <a:cs typeface="+mn-ea"/>
              </a:rPr>
              <a:t>Analyzing customer purchasing patterns to drive</a:t>
            </a:r>
            <a:endParaRPr lang="en-US" altLang="en-US" sz="1200">
              <a:solidFill>
                <a:schemeClr val="accent1">
                  <a:lumMod val="50000"/>
                </a:schemeClr>
              </a:solidFill>
              <a:latin typeface="+mn-ea"/>
              <a:ea typeface="Microsoft YaHei" panose="020B0503020204020204" charset="-122"/>
              <a:cs typeface="+mn-ea"/>
            </a:endParaRPr>
          </a:p>
          <a:p>
            <a:pPr algn="l"/>
            <a:r>
              <a:rPr lang="en-US" altLang="en-US" sz="1200">
                <a:solidFill>
                  <a:schemeClr val="accent1">
                    <a:lumMod val="50000"/>
                  </a:schemeClr>
                </a:solidFill>
                <a:latin typeface="+mn-ea"/>
                <a:ea typeface="Microsoft YaHei" panose="020B0503020204020204" charset="-122"/>
                <a:cs typeface="+mn-ea"/>
              </a:rPr>
              <a:t>data-driven retail business decisions.</a:t>
            </a:r>
            <a:endParaRPr lang="en-US" altLang="en-US" sz="1200">
              <a:solidFill>
                <a:schemeClr val="accent1">
                  <a:lumMod val="50000"/>
                </a:schemeClr>
              </a:solidFill>
              <a:latin typeface="+mn-ea"/>
              <a:ea typeface="Microsoft YaHei" panose="020B050302020402020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33264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Dataset Snapshot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888852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2035373"/>
            <a:ext cx="19974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Rows &amp; Columns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341885"/>
            <a:ext cx="199742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3,900 rows • 18 columns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888852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2035373"/>
            <a:ext cx="199749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341885"/>
            <a:ext cx="199749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Demographics, Purchase details, Behavior flags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083793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230314"/>
            <a:ext cx="442972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536826"/>
            <a:ext cx="442972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Review Rating: 37 nulls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9152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 Preparation (Python)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1369516"/>
            <a:ext cx="70842" cy="70842"/>
          </a:xfrm>
          <a:prstGeom prst="ellipse">
            <a:avLst/>
          </a:prstGeom>
          <a:solidFill>
            <a:srgbClr val="5E4CE6"/>
          </a:solidFill>
        </p:spPr>
      </p:sp>
      <p:sp>
        <p:nvSpPr>
          <p:cNvPr id="5" name="Text 2"/>
          <p:cNvSpPr/>
          <p:nvPr/>
        </p:nvSpPr>
        <p:spPr>
          <a:xfrm>
            <a:off x="3687589" y="1294209"/>
            <a:ext cx="49649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Load &amp; Inspect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687589" y="1657424"/>
            <a:ext cx="4964981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pandas: df.info(), .describe()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74988" y="2243063"/>
            <a:ext cx="70842" cy="70842"/>
          </a:xfrm>
          <a:prstGeom prst="ellipse">
            <a:avLst/>
          </a:prstGeom>
          <a:solidFill>
            <a:srgbClr val="5E4CE6"/>
          </a:solidFill>
        </p:spPr>
      </p:sp>
      <p:sp>
        <p:nvSpPr>
          <p:cNvPr id="8" name="Text 5"/>
          <p:cNvSpPr/>
          <p:nvPr/>
        </p:nvSpPr>
        <p:spPr>
          <a:xfrm>
            <a:off x="3687589" y="2167756"/>
            <a:ext cx="49649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Impute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87589" y="2530971"/>
            <a:ext cx="4964981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Review Rating → median by category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988" y="3116610"/>
            <a:ext cx="70842" cy="70842"/>
          </a:xfrm>
          <a:prstGeom prst="ellipse">
            <a:avLst/>
          </a:prstGeom>
          <a:solidFill>
            <a:srgbClr val="5E4CE6"/>
          </a:solidFill>
        </p:spPr>
      </p:sp>
      <p:sp>
        <p:nvSpPr>
          <p:cNvPr id="11" name="Text 8"/>
          <p:cNvSpPr/>
          <p:nvPr/>
        </p:nvSpPr>
        <p:spPr>
          <a:xfrm>
            <a:off x="3687589" y="3041303"/>
            <a:ext cx="49649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Rename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687589" y="3404518"/>
            <a:ext cx="4964981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Columns → snake_case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988" y="3990156"/>
            <a:ext cx="70842" cy="70842"/>
          </a:xfrm>
          <a:prstGeom prst="ellipse">
            <a:avLst/>
          </a:prstGeom>
          <a:solidFill>
            <a:srgbClr val="5E4CE6"/>
          </a:solidFill>
        </p:spPr>
      </p:sp>
      <p:sp>
        <p:nvSpPr>
          <p:cNvPr id="14" name="Text 11"/>
          <p:cNvSpPr/>
          <p:nvPr/>
        </p:nvSpPr>
        <p:spPr>
          <a:xfrm>
            <a:off x="3687589" y="3914849"/>
            <a:ext cx="49649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Feature Eng.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687589" y="4278064"/>
            <a:ext cx="4964981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age_group, purchase_frequency_days</a:t>
            </a:r>
            <a:endParaRPr lang="en-US" sz="11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435" y="4850765"/>
            <a:ext cx="1388110" cy="242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 Consistency &amp; Integration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5938" y="2358628"/>
            <a:ext cx="2519214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4847" y="2377678"/>
            <a:ext cx="232030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Consistency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654847" y="2740893"/>
            <a:ext cx="232030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Dropped redundant promo_code_used (redundant with discount_applied)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3281" y="2358628"/>
            <a:ext cx="2519288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32190" y="2377678"/>
            <a:ext cx="232037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DB Load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332190" y="2740893"/>
            <a:ext cx="2320379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Cleaned DataFrame → PostgreSQL for SQL analysis</a:t>
            </a:r>
            <a:endParaRPr lang="en-US" sz="11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695" y="4584700"/>
            <a:ext cx="1211580" cy="49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595" y="1991995"/>
            <a:ext cx="3902710" cy="23120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altLang="en-US" sz="1100" dirty="0"/>
              <a:t>• Male customers contribute nearly twice the total revenue compared to female customers.</a:t>
            </a:r>
            <a:endParaRPr lang="en-US" alt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altLang="en-US" sz="1100" dirty="0"/>
              <a:t>• The revenue gap may be influenced by differences in customer count, purchase frequency, or average order value.</a:t>
            </a:r>
            <a:endParaRPr lang="en-US" alt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altLang="en-US" sz="1100" dirty="0"/>
              <a:t>• Female customers still represent a significant revenue segment with growth potential.</a:t>
            </a:r>
            <a:endParaRPr lang="en-US" alt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altLang="en-US" sz="1100" dirty="0"/>
              <a:t>• A deeper analysis of product preferences can help identify opportunities to increase female customer spending.</a:t>
            </a:r>
            <a:endParaRPr lang="en-US" altLang="en-US" sz="11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695" y="4592955"/>
            <a:ext cx="1211580" cy="4902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633595" y="1569720"/>
            <a:ext cx="1680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231971"/>
                </a:solidFill>
              </a:rPr>
              <a:t>Key Insights</a:t>
            </a:r>
            <a:endParaRPr lang="en-US" b="1">
              <a:solidFill>
                <a:srgbClr val="23197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996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Top Products &amp; Ratings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44501"/>
            <a:ext cx="838200" cy="83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259881"/>
            <a:ext cx="190500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Gloves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66392"/>
            <a:ext cx="190500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Avg rating 3.86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244501"/>
            <a:ext cx="838200" cy="838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259881"/>
            <a:ext cx="190507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Sandals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566392"/>
            <a:ext cx="190507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Avg rating 3.84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244501"/>
            <a:ext cx="838200" cy="838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259881"/>
            <a:ext cx="190507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Boots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566392"/>
            <a:ext cx="190507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Avg rating 3.82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244501"/>
            <a:ext cx="838200" cy="838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259881"/>
            <a:ext cx="190507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Hat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566392"/>
            <a:ext cx="190507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Avg rating 3.80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076724"/>
            <a:ext cx="838200" cy="838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4092104"/>
            <a:ext cx="190500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Skirt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496119" y="4398615"/>
            <a:ext cx="190500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Avg rating 3.78</a:t>
            </a:r>
            <a:endParaRPr lang="en-US" sz="11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6695" y="4584700"/>
            <a:ext cx="1211580" cy="49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8027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Sales &amp; Revenue by Category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40605" y="2065020"/>
            <a:ext cx="3902710" cy="21342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• Clothing contributes the highest share of total revenue.</a:t>
            </a: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• Accessories generate strong revenue with fewer sales, indicating a higher average selling price.</a:t>
            </a: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• Footwear and Outerwear have lower sales volumes, presenting opportunities for targeted promotions.</a:t>
            </a: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• Revenue is concentrated in two major categories, suggesting dependency on Clothing and Accessories.</a:t>
            </a: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695" y="4584700"/>
            <a:ext cx="1211580" cy="4902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840605" y="1494790"/>
            <a:ext cx="1680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231971"/>
                </a:solidFill>
              </a:rPr>
              <a:t>Key Insights</a:t>
            </a:r>
            <a:endParaRPr lang="en-US" b="1">
              <a:solidFill>
                <a:srgbClr val="23197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Customer Segments &amp; Subscriptions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2117750"/>
            <a:ext cx="1631305" cy="1563514"/>
          </a:xfrm>
          <a:prstGeom prst="roundRect">
            <a:avLst>
              <a:gd name="adj" fmla="val 380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21509" y="2264271"/>
            <a:ext cx="13382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Segments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621509" y="2627486"/>
            <a:ext cx="133826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Loyal 3,116 • Returning 701 • New 83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48052" y="2117750"/>
            <a:ext cx="1631379" cy="1563514"/>
          </a:xfrm>
          <a:prstGeom prst="roundRect">
            <a:avLst>
              <a:gd name="adj" fmla="val 380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94573" y="2264271"/>
            <a:ext cx="13383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Subscriptions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394573" y="2627486"/>
            <a:ext cx="1338337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Yes: 1,053 customers • Avg spend $59.49 • Revenue $62,645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21190" y="2117750"/>
            <a:ext cx="1631379" cy="1563514"/>
          </a:xfrm>
          <a:prstGeom prst="roundRect">
            <a:avLst>
              <a:gd name="adj" fmla="val 380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67711" y="2264271"/>
            <a:ext cx="1338337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Non-Subscribers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167711" y="2848942"/>
            <a:ext cx="133833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No: 2,847 customers • Avg spend $59.87 • Revenue $170,436</a:t>
            </a:r>
            <a:endParaRPr lang="en-US" sz="11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695" y="4584700"/>
            <a:ext cx="1211580" cy="49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921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alt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Business Insights</a:t>
            </a:r>
            <a:endParaRPr lang="en-US" altLang="en-US" sz="2750" dirty="0">
              <a:solidFill>
                <a:srgbClr val="231971"/>
              </a:solidFill>
              <a:latin typeface="Outfit ExtraBold" pitchFamily="34" charset="0"/>
              <a:ea typeface="Outfit ExtraBold" pitchFamily="34" charset="-122"/>
              <a:cs typeface="Outfit ExtraBold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75718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07258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Discount Analysis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5935" y="3159125"/>
            <a:ext cx="2283460" cy="8724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Top discounted items</a:t>
            </a: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: </a:t>
            </a:r>
            <a:endParaRPr lang="en-US" sz="1100" dirty="0">
              <a:solidFill>
                <a:srgbClr val="2A2742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Hat 50%, Sneakers 49.66%,</a:t>
            </a:r>
            <a:endParaRPr lang="en-US" sz="1100" dirty="0">
              <a:solidFill>
                <a:srgbClr val="2A2742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Coat 49.07%, Sweater 48.17%, Pants 47.37%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175718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707258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Shipping Effect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29305" y="3159125"/>
            <a:ext cx="1671320" cy="6521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Avg purchase</a:t>
            </a: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: </a:t>
            </a:r>
            <a:endParaRPr lang="en-US" sz="1100" dirty="0">
              <a:solidFill>
                <a:srgbClr val="2A2742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Standard $58.46 </a:t>
            </a:r>
            <a:endParaRPr lang="en-US" sz="1100" dirty="0">
              <a:solidFill>
                <a:srgbClr val="2A2742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Express $60.48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175718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707258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Revenue by Age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9010" y="3105785"/>
            <a:ext cx="2599055" cy="1085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Young Adult 62,143 </a:t>
            </a:r>
            <a:endParaRPr lang="en-US" sz="1100" dirty="0">
              <a:solidFill>
                <a:srgbClr val="2A2742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Middle-aged 59,197 </a:t>
            </a:r>
            <a:endParaRPr lang="en-US" sz="1100" dirty="0">
              <a:solidFill>
                <a:srgbClr val="2A2742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Adult 55,978 </a:t>
            </a:r>
            <a:endParaRPr lang="en-US" sz="1100" dirty="0">
              <a:solidFill>
                <a:srgbClr val="2A2742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Senior 55,763</a:t>
            </a:r>
            <a:endParaRPr lang="en-US" sz="1100" dirty="0"/>
          </a:p>
        </p:txBody>
      </p:sp>
      <p:sp>
        <p:nvSpPr>
          <p:cNvPr id="12" name="Rounded Rectangle 11"/>
          <p:cNvSpPr/>
          <p:nvPr/>
        </p:nvSpPr>
        <p:spPr>
          <a:xfrm>
            <a:off x="376555" y="3013710"/>
            <a:ext cx="2179320" cy="116268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6695" y="4584700"/>
            <a:ext cx="1211580" cy="4902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124200" y="3013710"/>
            <a:ext cx="2179320" cy="116268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5871845" y="3013710"/>
            <a:ext cx="2179320" cy="116268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426"/>
            <a:ext cx="8151763" cy="4291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Dashboard &amp; Recommendations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74304"/>
            <a:ext cx="2635300" cy="142346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1193" y="1187723"/>
            <a:ext cx="1638449" cy="15237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3737" y="1344067"/>
            <a:ext cx="1249561" cy="4290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703737" y="1906116"/>
            <a:ext cx="1249561" cy="4326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Promote exclusive benefits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2620" y="1187723"/>
            <a:ext cx="1638449" cy="15237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75163" y="1344067"/>
            <a:ext cx="1249561" cy="4290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475163" y="1906116"/>
            <a:ext cx="1249561" cy="6489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Reward repeat buyers to convert to Loyal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4046" y="1187723"/>
            <a:ext cx="1638523" cy="15237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46590" y="1344067"/>
            <a:ext cx="1249635" cy="4290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246590" y="1906116"/>
            <a:ext cx="1249635" cy="4326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Balance volume with margin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1193" y="2844403"/>
            <a:ext cx="1638449" cy="17400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703737" y="3000747"/>
            <a:ext cx="1249561" cy="4290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3703737" y="3562796"/>
            <a:ext cx="1249561" cy="4326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Highlight top-rated &amp; best-selling items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2620" y="2844403"/>
            <a:ext cx="1638449" cy="174002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475163" y="3000747"/>
            <a:ext cx="1249561" cy="4290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5475163" y="3562796"/>
            <a:ext cx="1249561" cy="8652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Focus on high-revenue age groups &amp; express-shipping users</a:t>
            </a:r>
            <a:endParaRPr lang="en-US" sz="10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6695" y="4584700"/>
            <a:ext cx="1211580" cy="49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2349</Words>
  <Application>WPS Presentation</Application>
  <PresentationFormat>On-screen Show (16:9)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Outfit ExtraBold</vt:lpstr>
      <vt:lpstr>Outfit ExtraBold</vt:lpstr>
      <vt:lpstr>Outfit ExtraBold</vt:lpstr>
      <vt:lpstr>Microsoft YaHei</vt:lpstr>
      <vt:lpstr>Arimo</vt:lpstr>
      <vt:lpstr>Arimo</vt:lpstr>
      <vt:lpstr>Arimo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Hemant Singh</cp:lastModifiedBy>
  <cp:revision>3</cp:revision>
  <dcterms:created xsi:type="dcterms:W3CDTF">2026-07-26T11:53:00Z</dcterms:created>
  <dcterms:modified xsi:type="dcterms:W3CDTF">2026-07-26T12:31:07Z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A628A1B47B1542DEAEDA455B5C8FDD88_12</vt:lpwstr>
  </property>
</Properties>
</file>